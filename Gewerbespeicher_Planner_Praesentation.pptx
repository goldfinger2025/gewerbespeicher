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Gewerbespeicher Planner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31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0C0DF"/>
                </a:solidFill>
                <a:latin typeface="Calibri"/>
              </a:defRPr>
            </a:pPr>
            <a:r>
              <a:t>KI-gestuetzte Planungs- &amp; Angebotssoftware fuer gewerbliche PV-Speichersysteme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0" y="228600"/>
            <a:ext cx="2194560" cy="4572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24688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Built with AI (Claude)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0" y="777240"/>
            <a:ext cx="2194560" cy="320040"/>
          </a:xfrm>
          <a:prstGeom prst="rect">
            <a:avLst/>
          </a:prstGeom>
          <a:solidFill>
            <a:srgbClr val="1D7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0" y="7772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Anthropic Claude Code &amp; Opus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91640"/>
            <a:ext cx="169164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1691640" cy="508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82880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86AB"/>
                </a:solidFill>
                <a:latin typeface="Calibri"/>
              </a:defRPr>
            </a:pPr>
            <a:r>
              <a:t>31.569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Zeilen Code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3160" y="1691640"/>
            <a:ext cx="169164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23160" y="1691640"/>
            <a:ext cx="1691640" cy="508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60320" y="182880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86AB"/>
                </a:solidFill>
                <a:latin typeface="Calibri"/>
              </a:defRPr>
            </a:pPr>
            <a:r>
              <a:t>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224028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Source-Dateien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1691640"/>
            <a:ext cx="169164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1691640"/>
            <a:ext cx="1691640" cy="508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182880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8A745"/>
                </a:solidFill>
                <a:latin typeface="Calibri"/>
              </a:defRPr>
            </a:pPr>
            <a:r>
              <a:t>101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224028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API-Endpunkte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1691640"/>
            <a:ext cx="169164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1691640"/>
            <a:ext cx="1691640" cy="508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182880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8A745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24028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Backend-Services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0" y="1691640"/>
            <a:ext cx="169164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1691640"/>
            <a:ext cx="1691640" cy="50800"/>
          </a:xfrm>
          <a:prstGeom prst="rect">
            <a:avLst/>
          </a:prstGeom>
          <a:solidFill>
            <a:srgbClr val="F093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83880" y="182880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09319"/>
                </a:solidFill>
                <a:latin typeface="Calibri"/>
              </a:defRPr>
            </a:pPr>
            <a:r>
              <a:t>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224028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React-Komponenten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21240" y="1691640"/>
            <a:ext cx="169164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921240" y="1691640"/>
            <a:ext cx="1691640" cy="50800"/>
          </a:xfrm>
          <a:prstGeom prst="rect">
            <a:avLst/>
          </a:prstGeom>
          <a:solidFill>
            <a:srgbClr val="F093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0" y="1828800"/>
            <a:ext cx="1417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09319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80" y="224028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Datenbank-Modelle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7889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Kernfunktionen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310896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  <a:latin typeface="Calibri"/>
              </a:defRPr>
            </a:pPr>
            <a:r>
              <a:t>▸ Echtzeit PV+Batterie-Simulation (pvlib, stuendliche Aufloesung)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  <a:latin typeface="Calibri"/>
              </a:defRPr>
            </a:pPr>
            <a:r>
              <a:t>▸ KI-optimierte Systemdimensionierung &amp; Angebotstexte (Claude Opus)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  <a:latin typeface="Calibri"/>
              </a:defRPr>
            </a:pPr>
            <a:r>
              <a:t>▸ Professionelle PDF-Angebotserstellung mit White-Label-Branding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  <a:latin typeface="Calibri"/>
              </a:defRPr>
            </a:pPr>
            <a:r>
              <a:t>▸ Finanzanalyse: ROI, Amortisation, Kapitalwert (NPV), IRR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  <a:latin typeface="Calibri"/>
              </a:defRPr>
            </a:pPr>
            <a:r>
              <a:t>▸ Multi-Tenant-Architektur fuer Installateur-Netzwerk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80060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Integrationen &amp; Compliance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1206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  <a:latin typeface="Calibri"/>
              </a:defRPr>
            </a:pPr>
            <a:r>
              <a:t>▸ DocuSign (E-Signatur) | HubSpot (CRM) | Google Maps (Standort)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  <a:latin typeface="Calibri"/>
              </a:defRPr>
            </a:pPr>
            <a:r>
              <a:t>▸ PVGIS &amp; Open-Meteo (Wetter-/Ertragsdaten) | BNetzA-Tarife</a:t>
            </a:r>
          </a:p>
          <a:p>
            <a:pPr>
              <a:spcAft>
                <a:spcPts val="400"/>
              </a:spcAft>
              <a:defRPr sz="1100">
                <a:solidFill>
                  <a:srgbClr val="212529"/>
                </a:solidFill>
                <a:latin typeface="Calibri"/>
              </a:defRPr>
            </a:pPr>
            <a:r>
              <a:t>▸ EEG 2023, Paragraph 14a EnWG, MaStR, KfW-Foerderung vollstaendig integriert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0" y="27889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Technologie-Stack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3154680"/>
            <a:ext cx="53035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3200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E86AB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32004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12529"/>
                </a:solidFill>
                <a:latin typeface="Calibri"/>
              </a:defRPr>
            </a:pPr>
            <a:r>
              <a:t>Next.js 15, React 19, TypeScript, Tailwind CSS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703320"/>
            <a:ext cx="53035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37490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E86AB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0" y="374904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12529"/>
                </a:solidFill>
                <a:latin typeface="Calibri"/>
              </a:defRPr>
            </a:pPr>
            <a:r>
              <a:t>FastAPI, SQLAlchemy, Pydantic, pvlib-python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20" y="4251960"/>
            <a:ext cx="53035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5080" y="429768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E86AB"/>
                </a:solidFill>
                <a:latin typeface="Calibri"/>
              </a:defRPr>
            </a:pPr>
            <a:r>
              <a:t>KI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0" y="429768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12529"/>
                </a:solidFill>
                <a:latin typeface="Calibri"/>
              </a:defRPr>
            </a:pPr>
            <a:r>
              <a:t>Anthropic Claude Opus - Intelligente Angebotsoptimierung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4800600"/>
            <a:ext cx="53035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55080" y="484632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E86AB"/>
                </a:solidFill>
                <a:latin typeface="Calibri"/>
              </a:defRPr>
            </a:pPr>
            <a:r>
              <a:t>Infrastruktur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0" y="484632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12529"/>
                </a:solidFill>
                <a:latin typeface="Calibri"/>
              </a:defRPr>
            </a:pPr>
            <a:r>
              <a:t>Vercel + Railway + Neon (PostgreSQL) + Upstash (Redis)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17920" y="5349240"/>
            <a:ext cx="53035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5080" y="53949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E86AB"/>
                </a:solidFill>
                <a:latin typeface="Calibri"/>
              </a:defRPr>
            </a:pPr>
            <a:r>
              <a:t>Compliance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72400" y="539496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12529"/>
                </a:solidFill>
                <a:latin typeface="Calibri"/>
              </a:defRPr>
            </a:pPr>
            <a:r>
              <a:t>EEG 2023, Paragraph 14a EnWG, MaStR, KfW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0" y="60350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2A4A"/>
                </a:solidFill>
                <a:latin typeface="Calibri"/>
              </a:defRPr>
            </a:pPr>
            <a:r>
              <a:t>End-to-End Workflow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17920" y="6355080"/>
            <a:ext cx="530352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17920" y="635508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Konfiguration  --&gt;  Simulation  --&gt;  KI-Optimierung  --&gt;  PDF-Angebot  --&gt;  E-Signatur  --&gt;  CRM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6080760"/>
            <a:ext cx="1106424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1520" y="6126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A745"/>
                </a:solidFill>
                <a:latin typeface="Calibri"/>
              </a:defRPr>
            </a:pPr>
            <a:r>
              <a:t>[OK] Phase 1: MVP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00400" y="6126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A745"/>
                </a:solidFill>
                <a:latin typeface="Calibri"/>
              </a:defRPr>
            </a:pPr>
            <a:r>
              <a:t>[OK] Phase 2: KI-Integration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943600" y="6126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A745"/>
                </a:solidFill>
                <a:latin typeface="Calibri"/>
              </a:defRPr>
            </a:pPr>
            <a:r>
              <a:t>[OK] Phase 3: Integrationen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6800" y="61264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8A745"/>
                </a:solidFill>
                <a:latin typeface="Calibri"/>
              </a:defRPr>
            </a:pPr>
            <a:r>
              <a:t>[OK] Phase 4: Enterprise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" y="6355080"/>
            <a:ext cx="9144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Calibri"/>
              </a:defRPr>
            </a:pPr>
            <a:r>
              <a:t>Alle 4 Entwicklungsphasen abgeschlossen | Produktionsreif | KI-gestuetzte Entwicklung mit Claude Code (Anthropic)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Marktvalidierung &amp; Wettbewerbsanalyse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0C0DF"/>
                </a:solidFill>
                <a:latin typeface="Calibri"/>
              </a:defRPr>
            </a:pPr>
            <a:r>
              <a:t>Quellen: Wood Mackenzie, Mordor Intelligence, SaaS Capital, BSW Solar, ESS-News, pv magazine, BNetzA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60604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280160"/>
            <a:ext cx="2606040" cy="508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86AB"/>
                </a:solidFill>
                <a:latin typeface="Calibri"/>
              </a:defRPr>
            </a:pPr>
            <a:r>
              <a:t>24 GWh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DE Speicherkapazitaet 2025</a:t>
            </a:r>
            <a:br/>
            <a:r>
              <a:t>(+6,57 GWh in 2025)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1280160"/>
            <a:ext cx="260604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1280160"/>
            <a:ext cx="2606040" cy="508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41732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8A745"/>
                </a:solidFill>
                <a:latin typeface="Calibri"/>
              </a:defRPr>
            </a:pPr>
            <a:r>
              <a:t>+34%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82880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Gewerbespeicher-Wachstum</a:t>
            </a:r>
            <a:br/>
            <a:r>
              <a:t>(Jan 2026 vs. Jan 2025)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280160"/>
            <a:ext cx="260604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280160"/>
            <a:ext cx="2606040" cy="50800"/>
          </a:xfrm>
          <a:prstGeom prst="rect">
            <a:avLst/>
          </a:prstGeom>
          <a:solidFill>
            <a:srgbClr val="F093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41732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09319"/>
                </a:solidFill>
                <a:latin typeface="Calibri"/>
              </a:defRPr>
            </a:pPr>
            <a:r>
              <a:t>EUR 19 Mrd.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82880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DE Energiespeicher-Markt</a:t>
            </a:r>
            <a:br/>
            <a:r>
              <a:t>(Gesamtvolumen 2024)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9720" y="1280160"/>
            <a:ext cx="260604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89720" y="1280160"/>
            <a:ext cx="2606040" cy="508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141732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86AB"/>
                </a:solidFill>
                <a:latin typeface="Calibri"/>
              </a:defRPr>
            </a:pPr>
            <a:r>
              <a:t>EUR 2,5 Mrd.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81160" y="182880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Energiespeicher-Software</a:t>
            </a:r>
            <a:br/>
            <a:r>
              <a:t>(Global 2023, CAGR 15,1%)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251460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2A4A"/>
                </a:solidFill>
                <a:latin typeface="Calibri"/>
              </a:defRPr>
            </a:pPr>
            <a:r>
              <a:t>Marktumfeld &amp; Wachstumstreiber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2834640"/>
            <a:ext cx="5669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  <a:latin typeface="Calibri"/>
              </a:defRPr>
            </a:pPr>
            <a:r>
              <a:t>▸ PV-Software-Markt: $1,88 Mrd. (2025) -&gt; $2,81 Mrd. (2034), CAGR 6-9%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  <a:latin typeface="Calibri"/>
              </a:defRPr>
            </a:pPr>
            <a:r>
              <a:t>▸ C&amp;I Energiespeicher: $92 Mrd. (2025) -&gt; $164 Mrd. (2030), CAGR 12,3%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  <a:latin typeface="Calibri"/>
              </a:defRPr>
            </a:pPr>
            <a:r>
              <a:t>▸ Gewerbespeicher DE: 1.248 Systeme Jan. 2026 (+34% YoY)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  <a:latin typeface="Calibri"/>
              </a:defRPr>
            </a:pPr>
            <a:r>
              <a:t>▸ 575 Stunden neg. Strompreise 2025 - Speicher hochattraktiv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  <a:latin typeface="Calibri"/>
              </a:defRPr>
            </a:pPr>
            <a:r>
              <a:t>▸ Solar Peak Act (Feb. 2025): Speicher wirtschaftlich Pflicht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  <a:latin typeface="Calibri"/>
              </a:defRPr>
            </a:pPr>
            <a:r>
              <a:t>▸ EU-Ziel 42,5% Erneuerbare bis 2030 treibt Investitionen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  <a:latin typeface="Calibri"/>
              </a:defRPr>
            </a:pPr>
            <a:r>
              <a:t>▸ 22 Energy-SaaS-Akquisitionen in 2025 (Tracxn)</a:t>
            </a:r>
          </a:p>
          <a:p>
            <a:pPr>
              <a:spcAft>
                <a:spcPts val="400"/>
              </a:spcAft>
              <a:defRPr sz="1050">
                <a:solidFill>
                  <a:srgbClr val="212529"/>
                </a:solidFill>
                <a:latin typeface="Calibri"/>
              </a:defRPr>
            </a:pPr>
            <a:r>
              <a:t>▸ PE-Fonds aktiv im Industrial/Energy-Software-Segment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5146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2A4A"/>
                </a:solidFill>
                <a:latin typeface="Calibri"/>
              </a:defRPr>
            </a:pPr>
            <a:r>
              <a:t>Wettbewerb &amp; Positionierung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2926080"/>
            <a:ext cx="51206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294436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E86AB"/>
                </a:solidFill>
                <a:latin typeface="Calibri"/>
              </a:defRPr>
            </a:pPr>
            <a:r>
              <a:t>PV*SOL (Valentin)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315468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Calibri"/>
              </a:defRPr>
            </a:pPr>
            <a:r>
              <a:t>Desktop, ~845 EUR/J.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299923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C3545"/>
                </a:solidFill>
                <a:latin typeface="Calibri"/>
              </a:defRPr>
            </a:pPr>
            <a:r>
              <a:t>Nur Simulation, keine KI, kein E2E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3429000"/>
            <a:ext cx="51206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344728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E86AB"/>
                </a:solidFill>
                <a:latin typeface="Calibri"/>
              </a:defRPr>
            </a:pPr>
            <a:r>
              <a:t>Eturnity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365760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Calibri"/>
              </a:defRPr>
            </a:pPr>
            <a:r>
              <a:t>SaaS, Abo-Modell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350215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C3545"/>
                </a:solidFill>
                <a:latin typeface="Calibri"/>
              </a:defRPr>
            </a:pPr>
            <a:r>
              <a:t>Kalkulator, kein Speicher-Fokus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3931920"/>
            <a:ext cx="51206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400" y="395020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E86AB"/>
                </a:solidFill>
                <a:latin typeface="Calibri"/>
              </a:defRPr>
            </a:pPr>
            <a:r>
              <a:t>Energy Toolbase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416052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Calibri"/>
              </a:defRPr>
            </a:pPr>
            <a:r>
              <a:t>SaaS, US-Markt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400507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C3545"/>
                </a:solidFill>
                <a:latin typeface="Calibri"/>
              </a:defRPr>
            </a:pPr>
            <a:r>
              <a:t>Speicher, aber keine DE-Compliance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92240" y="4434840"/>
            <a:ext cx="51206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9400" y="4453128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E86AB"/>
                </a:solidFill>
                <a:latin typeface="Calibri"/>
              </a:defRPr>
            </a:pPr>
            <a:r>
              <a:t>PVcase / PVsyst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29400" y="4663440"/>
            <a:ext cx="1828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Calibri"/>
              </a:defRPr>
            </a:pPr>
            <a:r>
              <a:t>Enterprise/Desktop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450799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DC3545"/>
                </a:solidFill>
                <a:latin typeface="Calibri"/>
              </a:defRPr>
            </a:pPr>
            <a:r>
              <a:t>Grossprojekte, kein Gewerbe-Fokus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5029200"/>
            <a:ext cx="5120640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29400" y="507492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8A745"/>
                </a:solidFill>
                <a:latin typeface="Calibri"/>
              </a:defRPr>
            </a:pPr>
            <a:r>
              <a:t>Gewerbespeicher Planner - Unser USP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29400" y="5303520"/>
            <a:ext cx="4846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C0D5E8"/>
                </a:solidFill>
                <a:latin typeface="Calibri"/>
              </a:defRPr>
            </a:pPr>
            <a:r>
              <a:t>▸ Einzige DE-Loesung: KI + Compliance + End-to-End</a:t>
            </a:r>
          </a:p>
          <a:p>
            <a:pPr>
              <a:spcAft>
                <a:spcPts val="400"/>
              </a:spcAft>
              <a:defRPr sz="1000">
                <a:solidFill>
                  <a:srgbClr val="C0D5E8"/>
                </a:solidFill>
                <a:latin typeface="Calibri"/>
              </a:defRPr>
            </a:pPr>
            <a:r>
              <a:t>▸ Kompletter Workflow: Simulation -&gt; Angebot -&gt; Signatur -&gt; CRM</a:t>
            </a:r>
          </a:p>
          <a:p>
            <a:pPr>
              <a:spcAft>
                <a:spcPts val="400"/>
              </a:spcAft>
              <a:defRPr sz="1000">
                <a:solidFill>
                  <a:srgbClr val="C0D5E8"/>
                </a:solidFill>
                <a:latin typeface="Calibri"/>
              </a:defRPr>
            </a:pPr>
            <a:r>
              <a:t>▸ Multi-Tenant White-Label fuer Installateur-Skalierung</a:t>
            </a:r>
          </a:p>
          <a:p>
            <a:pPr>
              <a:spcAft>
                <a:spcPts val="400"/>
              </a:spcAft>
              <a:defRPr sz="1000">
                <a:solidFill>
                  <a:srgbClr val="C0D5E8"/>
                </a:solidFill>
                <a:latin typeface="Calibri"/>
              </a:defRPr>
            </a:pPr>
            <a:r>
              <a:t>▸ Regulatorische Komplexitaet als Markteintrittsbarriere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6172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C757D"/>
                </a:solidFill>
                <a:latin typeface="Calibri"/>
              </a:defRPr>
            </a:pPr>
            <a:r>
              <a:t>Quellen: Wood Mackenzie (2025) | Mordor Intelligence C&amp;I Storage Report | BSW Solar | ESS-News.com (Jan 2026) | SaaS Capital Valuation 2025 | pv magazine DE | Tracxn Energy SaaS 2026 | BNetzA | Precedence Research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2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Wertdarstellung: Was ist diese Anwendung wert?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0C0DF"/>
                </a:solidFill>
                <a:latin typeface="Calibri"/>
              </a:defRPr>
            </a:pPr>
            <a:r>
              <a:t>Drei Perspektiven: Wiederbeschaffungswert, KI-Kostenersparnis und SaaS-Bewertungspotenzial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0" y="182880"/>
            <a:ext cx="2194560" cy="64008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0" y="20116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Built with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0" y="475488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Calibri"/>
              </a:defRPr>
            </a:pPr>
            <a:r>
              <a:t>Claude Code (Anthropic)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80160"/>
            <a:ext cx="3566160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280160"/>
            <a:ext cx="3566160" cy="635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8988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AB"/>
                </a:solidFill>
                <a:latin typeface="Calibri"/>
              </a:defRPr>
            </a:pPr>
            <a:r>
              <a:t>Wiederbeschaffungswert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4592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Calibri"/>
              </a:defRPr>
            </a:pPr>
            <a:r>
              <a:t>Was wuerde konventionelle Entwicklung kosten?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182880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212529"/>
                </a:solidFill>
                <a:latin typeface="Calibri"/>
              </a:defRPr>
            </a:pPr>
            <a:r>
              <a:t>31.569 Zeilen Code, 94 Dateien, 101 API-Endpunkte</a:t>
            </a:r>
          </a:p>
          <a:p>
            <a:pPr>
              <a:spcAft>
                <a:spcPts val="100"/>
              </a:spcAft>
              <a:defRPr sz="900">
                <a:solidFill>
                  <a:srgbClr val="212529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2E86AB"/>
                </a:solidFill>
                <a:latin typeface="Calibri"/>
              </a:defRPr>
            </a:pPr>
            <a:r>
              <a:t>Geschaetzter Aufwand (konventionell):</a:t>
            </a:r>
          </a:p>
          <a:p>
            <a:pPr>
              <a:spcAft>
                <a:spcPts val="100"/>
              </a:spcAft>
              <a:defRPr sz="900">
                <a:solidFill>
                  <a:srgbClr val="212529"/>
                </a:solidFill>
                <a:latin typeface="Calibri"/>
              </a:defRPr>
            </a:pPr>
            <a:r>
              <a:t>  Senior Full-Stack-Entwickler    12 Monate</a:t>
            </a:r>
          </a:p>
          <a:p>
            <a:pPr>
              <a:spcAft>
                <a:spcPts val="100"/>
              </a:spcAft>
              <a:defRPr sz="900">
                <a:solidFill>
                  <a:srgbClr val="212529"/>
                </a:solidFill>
                <a:latin typeface="Calibri"/>
              </a:defRPr>
            </a:pPr>
            <a:r>
              <a:t>  UX/UI-Designer                          3 Monate</a:t>
            </a:r>
          </a:p>
          <a:p>
            <a:pPr>
              <a:spcAft>
                <a:spcPts val="100"/>
              </a:spcAft>
              <a:defRPr sz="900">
                <a:solidFill>
                  <a:srgbClr val="212529"/>
                </a:solidFill>
                <a:latin typeface="Calibri"/>
              </a:defRPr>
            </a:pPr>
            <a:r>
              <a:t>  DevOps/Infrastruktur                  2 Monate</a:t>
            </a:r>
          </a:p>
          <a:p>
            <a:pPr>
              <a:spcAft>
                <a:spcPts val="100"/>
              </a:spcAft>
              <a:defRPr sz="900">
                <a:solidFill>
                  <a:srgbClr val="212529"/>
                </a:solidFill>
                <a:latin typeface="Calibri"/>
              </a:defRPr>
            </a:pPr>
            <a:r>
              <a:t>  Projektmanagement                    6 Monate</a:t>
            </a:r>
          </a:p>
          <a:p>
            <a:pPr>
              <a:spcAft>
                <a:spcPts val="100"/>
              </a:spcAft>
              <a:defRPr sz="900">
                <a:solidFill>
                  <a:srgbClr val="212529"/>
                </a:solidFill>
                <a:latin typeface="Calibri"/>
              </a:defRPr>
            </a:pPr>
            <a:r>
              <a:t>  Domain-Experte (Solar/Energie)  3 Monate</a:t>
            </a:r>
          </a:p>
          <a:p>
            <a:pPr>
              <a:spcAft>
                <a:spcPts val="100"/>
              </a:spcAft>
              <a:defRPr sz="900">
                <a:solidFill>
                  <a:srgbClr val="2E86AB"/>
                </a:solidFill>
                <a:latin typeface="Calibri"/>
              </a:defRPr>
            </a:pPr>
            <a:r>
              <a:t>  = ca. 26 Personenmonate</a:t>
            </a:r>
          </a:p>
          <a:p>
            <a:pPr>
              <a:spcAft>
                <a:spcPts val="100"/>
              </a:spcAft>
              <a:defRPr sz="900">
                <a:solidFill>
                  <a:srgbClr val="212529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212529"/>
                </a:solidFill>
                <a:latin typeface="Calibri"/>
              </a:defRPr>
            </a:pPr>
            <a:r>
              <a:t>DE Agentur-Stundensatz: EUR 100-150/Std.</a:t>
            </a:r>
          </a:p>
          <a:p>
            <a:pPr>
              <a:spcAft>
                <a:spcPts val="100"/>
              </a:spcAft>
              <a:defRPr sz="900">
                <a:solidFill>
                  <a:srgbClr val="212529"/>
                </a:solidFill>
                <a:latin typeface="Calibri"/>
              </a:defRPr>
            </a:pPr>
            <a:r>
              <a:t>26 PM x 160 Std. x EUR 120 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E86AB"/>
                </a:solidFill>
                <a:latin typeface="Calibri"/>
              </a:defRPr>
            </a:pPr>
            <a:r>
              <a:t>EUR 350.000 - 500.000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9776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C757D"/>
                </a:solidFill>
                <a:latin typeface="Calibri"/>
              </a:defRPr>
            </a:pPr>
            <a:r>
              <a:t>Quelle: Clutch.co, FullStack Labs, Netguru (DE Agency Rates 2025)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1280160"/>
            <a:ext cx="3566160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1280160"/>
            <a:ext cx="3566160" cy="63500"/>
          </a:xfrm>
          <a:prstGeom prst="rect">
            <a:avLst/>
          </a:prstGeom>
          <a:solidFill>
            <a:srgbClr val="28A7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138988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8A745"/>
                </a:solidFill>
                <a:latin typeface="Calibri"/>
              </a:defRPr>
            </a:pPr>
            <a:r>
              <a:t>KI-Entwicklungseffizienz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164592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Calibri"/>
              </a:defRPr>
            </a:pPr>
            <a:r>
              <a:t>Tatsaechliche Kosten durch KI-gestuetzte Entwicklung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182880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DC3545"/>
                </a:solidFill>
                <a:latin typeface="Calibri"/>
              </a:defRPr>
            </a:pPr>
            <a:r>
              <a:t>Konventionelle Entwicklung:</a:t>
            </a:r>
          </a:p>
          <a:p>
            <a:pPr>
              <a:spcAft>
                <a:spcPts val="100"/>
              </a:spcAft>
              <a:defRPr sz="900">
                <a:solidFill>
                  <a:srgbClr val="212529"/>
                </a:solidFill>
                <a:latin typeface="Calibri"/>
              </a:defRPr>
            </a:pPr>
            <a:r>
              <a:t>  26 Personenmonate</a:t>
            </a:r>
          </a:p>
          <a:p>
            <a:pPr>
              <a:spcAft>
                <a:spcPts val="100"/>
              </a:spcAft>
              <a:defRPr sz="900">
                <a:solidFill>
                  <a:srgbClr val="212529"/>
                </a:solidFill>
                <a:latin typeface="Calibri"/>
              </a:defRPr>
            </a:pPr>
            <a:r>
              <a:t>  5-6 Entwickler, 12+ Monate</a:t>
            </a:r>
          </a:p>
          <a:p>
            <a:pPr>
              <a:spcAft>
                <a:spcPts val="100"/>
              </a:spcAft>
              <a:defRPr sz="900">
                <a:solidFill>
                  <a:srgbClr val="212529"/>
                </a:solidFill>
                <a:latin typeface="Calibri"/>
              </a:defRPr>
            </a:pPr>
            <a:r>
              <a:t>  Kosten: EUR 350.000 - 500.000</a:t>
            </a:r>
          </a:p>
          <a:p>
            <a:pPr>
              <a:spcAft>
                <a:spcPts val="100"/>
              </a:spcAft>
              <a:defRPr sz="900">
                <a:solidFill>
                  <a:srgbClr val="212529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28A745"/>
                </a:solidFill>
                <a:latin typeface="Calibri"/>
              </a:defRPr>
            </a:pPr>
            <a:r>
              <a:t>KI-gestuetzte Entwicklung (Claude Code):</a:t>
            </a:r>
          </a:p>
          <a:p>
            <a:pPr>
              <a:spcAft>
                <a:spcPts val="100"/>
              </a:spcAft>
              <a:defRPr sz="900">
                <a:solidFill>
                  <a:srgbClr val="212529"/>
                </a:solidFill>
                <a:latin typeface="Calibri"/>
              </a:defRPr>
            </a:pPr>
            <a:r>
              <a:t>  1 Entwickler + KI-Pair-Programming</a:t>
            </a:r>
          </a:p>
          <a:p>
            <a:pPr>
              <a:spcAft>
                <a:spcPts val="100"/>
              </a:spcAft>
              <a:defRPr sz="900">
                <a:solidFill>
                  <a:srgbClr val="212529"/>
                </a:solidFill>
                <a:latin typeface="Calibri"/>
              </a:defRPr>
            </a:pPr>
            <a:r>
              <a:t>  Deutlich verkuerzte Entwicklungszeit</a:t>
            </a:r>
          </a:p>
          <a:p>
            <a:pPr>
              <a:spcAft>
                <a:spcPts val="100"/>
              </a:spcAft>
              <a:defRPr sz="900">
                <a:solidFill>
                  <a:srgbClr val="212529"/>
                </a:solidFill>
                <a:latin typeface="Calibri"/>
              </a:defRPr>
            </a:pPr>
            <a:r>
              <a:t>  4 Phasen vollstaendig abgeschlossen</a:t>
            </a:r>
          </a:p>
          <a:p>
            <a:pPr>
              <a:spcAft>
                <a:spcPts val="100"/>
              </a:spcAft>
              <a:defRPr sz="900">
                <a:solidFill>
                  <a:srgbClr val="212529"/>
                </a:solidFill>
                <a:latin typeface="Calibri"/>
              </a:defRPr>
            </a:pPr>
            <a:r>
              <a:t>  Produktionsreife Qualitaet erreicht</a:t>
            </a:r>
          </a:p>
          <a:p>
            <a:pPr>
              <a:spcAft>
                <a:spcPts val="100"/>
              </a:spcAft>
              <a:defRPr sz="900">
                <a:solidFill>
                  <a:srgbClr val="212529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28A745"/>
                </a:solidFill>
                <a:latin typeface="Calibri"/>
              </a:defRPr>
            </a:pPr>
            <a:r>
              <a:t>Geschaetzte Ersparnis: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3566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28A745"/>
                </a:solidFill>
                <a:latin typeface="Calibri"/>
              </a:defRPr>
            </a:pPr>
            <a:r>
              <a:t>60-80% Kostenreduktion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9776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C757D"/>
                </a:solidFill>
                <a:latin typeface="Calibri"/>
              </a:defRPr>
            </a:pPr>
            <a:r>
              <a:t>1 Entwickler + Claude AI statt 5-6 Personen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0" y="1280160"/>
            <a:ext cx="3566160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1280160"/>
            <a:ext cx="3566160" cy="63500"/>
          </a:xfrm>
          <a:prstGeom prst="rect">
            <a:avLst/>
          </a:prstGeom>
          <a:solidFill>
            <a:srgbClr val="F093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0" y="138988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09319"/>
                </a:solidFill>
                <a:latin typeface="Calibri"/>
              </a:defRPr>
            </a:pPr>
            <a:r>
              <a:t>SaaS-Bewertungspotenzial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1645920"/>
            <a:ext cx="3200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Calibri"/>
              </a:defRPr>
            </a:pPr>
            <a:r>
              <a:t>Marktuebliche Bewertung bei Umsatzaufbau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1828800"/>
            <a:ext cx="3200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F09319"/>
                </a:solidFill>
                <a:latin typeface="Calibri"/>
              </a:defRPr>
            </a:pPr>
            <a:r>
              <a:t>B2B SaaS-Multiples (SaaS Capital 2025):</a:t>
            </a:r>
          </a:p>
          <a:p>
            <a:pPr>
              <a:spcAft>
                <a:spcPts val="100"/>
              </a:spcAft>
              <a:defRPr sz="900">
                <a:solidFill>
                  <a:srgbClr val="212529"/>
                </a:solidFill>
                <a:latin typeface="Calibri"/>
              </a:defRPr>
            </a:pPr>
            <a:r>
              <a:t>  Bootstrapped: 4,8x ARR</a:t>
            </a:r>
          </a:p>
          <a:p>
            <a:pPr>
              <a:spcAft>
                <a:spcPts val="100"/>
              </a:spcAft>
              <a:defRPr sz="900">
                <a:solidFill>
                  <a:srgbClr val="212529"/>
                </a:solidFill>
                <a:latin typeface="Calibri"/>
              </a:defRPr>
            </a:pPr>
            <a:r>
              <a:t>  VC-backed: 5,3x ARR</a:t>
            </a:r>
          </a:p>
          <a:p>
            <a:pPr>
              <a:spcAft>
                <a:spcPts val="100"/>
              </a:spcAft>
              <a:defRPr sz="900">
                <a:solidFill>
                  <a:srgbClr val="212529"/>
                </a:solidFill>
                <a:latin typeface="Calibri"/>
              </a:defRPr>
            </a:pPr>
            <a:r>
              <a:t>  Median Markt: 7,0x ARR</a:t>
            </a:r>
          </a:p>
          <a:p>
            <a:pPr>
              <a:spcAft>
                <a:spcPts val="100"/>
              </a:spcAft>
              <a:defRPr sz="900">
                <a:solidFill>
                  <a:srgbClr val="212529"/>
                </a:solidFill>
                <a:latin typeface="Calibri"/>
              </a:defRPr>
            </a:pPr>
            <a:r>
              <a:t>  Energy/Industrial SaaS: 3-7x ARR</a:t>
            </a:r>
          </a:p>
          <a:p>
            <a:pPr>
              <a:spcAft>
                <a:spcPts val="100"/>
              </a:spcAft>
              <a:defRPr sz="900">
                <a:solidFill>
                  <a:srgbClr val="212529"/>
                </a:solidFill>
                <a:latin typeface="Calibri"/>
              </a:defRPr>
            </a:pPr>
          </a:p>
          <a:p>
            <a:pPr>
              <a:spcAft>
                <a:spcPts val="100"/>
              </a:spcAft>
              <a:defRPr sz="900">
                <a:solidFill>
                  <a:srgbClr val="F09319"/>
                </a:solidFill>
                <a:latin typeface="Calibri"/>
              </a:defRPr>
            </a:pPr>
            <a:r>
              <a:t>Beispielrechnung bei Markteintritt:</a:t>
            </a:r>
          </a:p>
          <a:p>
            <a:pPr>
              <a:spcAft>
                <a:spcPts val="100"/>
              </a:spcAft>
              <a:defRPr sz="900">
                <a:solidFill>
                  <a:srgbClr val="212529"/>
                </a:solidFill>
                <a:latin typeface="Calibri"/>
              </a:defRPr>
            </a:pPr>
            <a:r>
              <a:t>  50 Installateure x EUR 199/Monat</a:t>
            </a:r>
          </a:p>
          <a:p>
            <a:pPr>
              <a:spcAft>
                <a:spcPts val="100"/>
              </a:spcAft>
              <a:defRPr sz="900">
                <a:solidFill>
                  <a:srgbClr val="212529"/>
                </a:solidFill>
                <a:latin typeface="Calibri"/>
              </a:defRPr>
            </a:pPr>
            <a:r>
              <a:t>  = EUR 119.400 ARR</a:t>
            </a:r>
          </a:p>
          <a:p>
            <a:pPr>
              <a:spcAft>
                <a:spcPts val="100"/>
              </a:spcAft>
              <a:defRPr sz="900">
                <a:solidFill>
                  <a:srgbClr val="212529"/>
                </a:solidFill>
                <a:latin typeface="Calibri"/>
              </a:defRPr>
            </a:pPr>
            <a:r>
              <a:t>  x 5x Multiple =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35661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09319"/>
                </a:solidFill>
                <a:latin typeface="Calibri"/>
              </a:defRPr>
            </a:pPr>
            <a:r>
              <a:t>EUR 600.000+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39776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6C757D"/>
                </a:solidFill>
                <a:latin typeface="Calibri"/>
              </a:defRPr>
            </a:pPr>
            <a:r>
              <a:t>Quelle: SaaS Capital 2025, Aventis Advisors, iMerge Advisors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526280"/>
            <a:ext cx="11064240" cy="91440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599432"/>
            <a:ext cx="10698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8A745"/>
                </a:solidFill>
                <a:latin typeface="Calibri"/>
              </a:defRPr>
            </a:pPr>
            <a:r>
              <a:t>Zusammenfassung: Der Wert dieser Anwendung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48463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Calibri"/>
              </a:defRPr>
            </a:pPr>
            <a:r>
              <a:t>Der Gewerbespeicher Planner hat einen Wiederbeschaffungswert von EUR 350.000-500.000. Durch KI-gestuetzte Entwicklung mit Claude Code wurde dieser Wert mit 60-80% weniger Kosten geschaffen. Als SaaS-Produkt im wachsenden DE-Gewerbespeichermarkt (+34% YoY) besteht Bewertungspotenzial von EUR 600.000+ bereits bei moderatem Markteintritt (50 Installateure). Die Kombination aus KI, Compliance und E2E-Workflow ist im DE-Markt einzigartig.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6235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2A4A"/>
                </a:solidFill>
                <a:latin typeface="Calibri"/>
              </a:defRPr>
            </a:pPr>
            <a:r>
              <a:t>Empfohlene naechste Schritte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943600"/>
            <a:ext cx="3474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21792" y="6007608"/>
            <a:ext cx="320040" cy="32004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600760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5971032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2A4A"/>
                </a:solidFill>
                <a:latin typeface="Calibri"/>
              </a:defRPr>
            </a:pPr>
            <a:r>
              <a:t>Pilotphase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61539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Calibri"/>
              </a:defRPr>
            </a:pPr>
            <a:r>
              <a:t>5-10 Installateure als Beta-Nutzer, Feedback sammeln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43400" y="5943600"/>
            <a:ext cx="3474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416552" y="6007608"/>
            <a:ext cx="320040" cy="32004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16552" y="600760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0600" y="5971032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2A4A"/>
                </a:solidFill>
                <a:latin typeface="Calibri"/>
              </a:defRPr>
            </a:pPr>
            <a:r>
              <a:t>Go-to-Market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00600" y="61539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Calibri"/>
              </a:defRPr>
            </a:pPr>
            <a:r>
              <a:t>Preismodell (SaaS), Vertrieb ueber EWS-Netzwerk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138160" y="5943600"/>
            <a:ext cx="3474720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211312" y="6007608"/>
            <a:ext cx="320040" cy="32004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11312" y="6007608"/>
            <a:ext cx="320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0" y="5971032"/>
            <a:ext cx="2926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B2A4A"/>
                </a:solidFill>
                <a:latin typeface="Calibri"/>
              </a:defRPr>
            </a:pPr>
            <a:r>
              <a:t>Skalierung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95360" y="61539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Calibri"/>
              </a:defRPr>
            </a:pPr>
            <a:r>
              <a:t>Multi-Tenant ausrollen, Partnernetzwerk aufbauen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C757D"/>
                </a:solidFill>
                <a:latin typeface="Calibri"/>
              </a:defRPr>
            </a:pPr>
            <a:r>
              <a:t>Gewerbespeicher Planner | EWS GmbH | Vertraulich | Februar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