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Gewerbespeicher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C0DF"/>
                </a:solidFill>
                <a:latin typeface="Calibri"/>
              </a:defRPr>
            </a:pPr>
            <a:r>
              <a:t>KI-gestutzte Planungs- &amp; Angebotssoftware fur gewerbliche PV-Speichersysteme | EWS GmbH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920240" cy="4572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474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✨ Built with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868680"/>
            <a:ext cx="1920240" cy="365760"/>
          </a:xfrm>
          <a:prstGeom prst="rect">
            <a:avLst/>
          </a:prstGeom>
          <a:solidFill>
            <a:srgbClr val="1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8686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Claude AI (Anthropic)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Was die Anwendung leistet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86AB"/>
                </a:solidFill>
                <a:latin typeface="Calibri"/>
              </a:defRPr>
            </a:pPr>
            <a:r>
              <a:t>Kernfunktionen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Echtzeit-PV+Batterie-Simulation (pvlib, stundliche Auflosung)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KI-optimierte Systemdimensionierung &amp; Angebotstexte (Claude Opus)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Professionelle PDF-Angebotserstellung mit Branding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Finanzanalyse: ROI, Amortisation, Kapitalwert, interner Zinsfuss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Multi-Tenant White-Label fur Installateur-Netzwerk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E86AB"/>
                </a:solidFill>
                <a:latin typeface="Calibri"/>
              </a:defRPr>
            </a:pPr>
            <a:r>
              <a:t>Integrationen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DocuSign (E-Signatur) | HubSpot (CRM) | Google Maps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PVGIS &amp; Open-Meteo (Wetter-/Ertragsdaten)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BNetzA-konforme EEG-Einspeisetarife &amp; MaStR-Compliance</a:t>
            </a:r>
          </a:p>
          <a:p>
            <a:pPr>
              <a:spcAft>
                <a:spcPts val="300"/>
              </a:spcAft>
              <a:defRPr sz="1200">
                <a:solidFill>
                  <a:srgbClr val="212529"/>
                </a:solidFill>
                <a:latin typeface="Calibri"/>
              </a:defRPr>
            </a:pPr>
            <a:r>
              <a:t>▸ KfW-Forderungsprogramme &amp; Subventionsberechnung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Technologie-Stack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4231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Next.js 15, React 19, TypeScript, Tailwind CSS, Recharts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35808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081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0815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FastAPI, SQLAlchemy, Pydantic, pvlib-python, asyncpg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94176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37398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KI-Integration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73989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Anthropic Claude Opus 4.5 - Intelligente Angebotsoptimierung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52544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3982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Infrastruktur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39826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Vercel + Railway + Neon (PostgreSQL) + Upstash (Redis)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010912"/>
            <a:ext cx="53035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05663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05663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EEG 2023, §14a EnWG, MaStR, KfW-Forderung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Entwicklungsstatus: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✅ Phase 1: MVP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✅ Phase 2: KI-Integration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✅ Phase 3: Integrationen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5989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✅ Phase 4: 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Calibri"/>
              </a:defRPr>
            </a:pPr>
            <a:r>
              <a:t>Produktionsreife B2B-SaaS-Plattform | 4 Entwicklungsphasen abgeschlossen | KI-gestutzte Entwicklung mit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Marktvalidierung &amp; Wettbewerbsanalyse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C0DF"/>
                </a:solidFill>
                <a:latin typeface="Calibri"/>
              </a:defRPr>
            </a:pPr>
            <a:r>
              <a:t>Quellen: Wood Mackenzie, Mordor Intelligence, Grand View Research, BSW Solar, pv magazine, BNetzA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56032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86AB"/>
                </a:solidFill>
                <a:latin typeface="Calibri"/>
              </a:defRPr>
            </a:pPr>
            <a:r>
              <a:t>24 GWh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Calibri"/>
              </a:defRPr>
            </a:pPr>
            <a:r>
              <a:t>DE Speicherkapazitat 2025</a:t>
            </a:r>
            <a:br/>
            <a:r>
              <a:t>(+6,57 GWh in 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2560320" cy="50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8A745"/>
                </a:solidFill>
                <a:latin typeface="Calibri"/>
              </a:defRPr>
            </a:pPr>
            <a:r>
              <a:t>+34%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Calibri"/>
              </a:defRPr>
            </a:pPr>
            <a:r>
              <a:t>Gewerbespeicher-Wachstum</a:t>
            </a:r>
            <a:br/>
            <a:r>
              <a:t>(Jan 2026 vs. Jan 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560320" cy="50800"/>
          </a:xfrm>
          <a:prstGeom prst="rect">
            <a:avLst/>
          </a:prstGeom>
          <a:solidFill>
            <a:srgbClr val="F09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09319"/>
                </a:solidFill>
                <a:latin typeface="Calibri"/>
              </a:defRPr>
            </a:pPr>
            <a:r>
              <a:t>$19 Mrd.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Calibri"/>
              </a:defRPr>
            </a:pPr>
            <a:r>
              <a:t>DE Energiespeicher-Markt</a:t>
            </a:r>
            <a:br/>
            <a:r>
              <a:t>(Gesamtmarkt 2024)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371600"/>
            <a:ext cx="25603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1371600"/>
            <a:ext cx="2560320" cy="50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E86AB"/>
                </a:solidFill>
                <a:latin typeface="Calibri"/>
              </a:defRPr>
            </a:pPr>
            <a:r>
              <a:t>$2,5 Mrd.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011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C757D"/>
                </a:solidFill>
                <a:latin typeface="Calibri"/>
              </a:defRPr>
            </a:pPr>
            <a:r>
              <a:t>Energiespeicher-Software</a:t>
            </a:r>
            <a:br/>
            <a:r>
              <a:t>(Global 2023, CAGR 15,1%)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Marktumfeld &amp; Wachstumstreiber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  <a:latin typeface="Calibri"/>
              </a:defRPr>
            </a:pPr>
            <a:r>
              <a:t>▸ PV-Software-Markt: $1,88 Mrd. (2025) → $2,81 Mrd. (2034), CAGR 6-9%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  <a:latin typeface="Calibri"/>
              </a:defRPr>
            </a:pPr>
            <a:r>
              <a:t>▸ C&amp;I Energiespeicher-Markt: $92 Mrd. (2025) → $164 Mrd. (2030), CAGR 12,3%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  <a:latin typeface="Calibri"/>
              </a:defRPr>
            </a:pPr>
            <a:r>
              <a:t>▸ Gewerbespeicher DE: 1.248 Systeme im Jan. 2026 (+34% YoY)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  <a:latin typeface="Calibri"/>
              </a:defRPr>
            </a:pPr>
            <a:r>
              <a:t>▸ 575 Stunden negative Strompreise in 2025 – Speicher wirtschaftlich attraktiv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  <a:latin typeface="Calibri"/>
              </a:defRPr>
            </a:pPr>
            <a:r>
              <a:t>▸ SaaS-Bewertung: 4-7x ARR fur B2B-Software (Median 7x, SaaS Capital 2025)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  <a:latin typeface="Calibri"/>
              </a:defRPr>
            </a:pPr>
            <a:r>
              <a:t>▸ Solar Peak Act (Feb 2025): Intelligente Steuerung + Speicher nun Pflicht</a:t>
            </a:r>
          </a:p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  <a:latin typeface="Calibri"/>
              </a:defRPr>
            </a:pPr>
            <a:r>
              <a:t>▸ EU-Ziel 42,5% Erneuerbare bis 2030 treibt Investitionen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Wettbewerb &amp; Positionierung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0040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227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PV*SOL (Valentin)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4564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Desktop, ~845€/Jahr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Simulation, keine KI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76732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794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Eturnity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023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SaaS, Abo-Modell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Kalkulator, kein Speicher-Fokus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334256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361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Energy Toolbase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5902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SaaS, US-fokussiert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42569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Speicher, keine DE-Compliance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901184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9286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86AB"/>
                </a:solidFill>
                <a:latin typeface="Calibri"/>
              </a:defRPr>
            </a:pPr>
            <a:r>
              <a:t>PVcase / PVsyst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1572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Enterprise / Desktop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9926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12529"/>
                </a:solidFill>
                <a:latin typeface="Calibri"/>
              </a:defRPr>
            </a:pPr>
            <a:r>
              <a:t>Grossprojekte, kein Gewerbe-Fokus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605272"/>
            <a:ext cx="502920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650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Gewerbespeicher Planner – Unser USP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92531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C0DF"/>
                </a:solidFill>
                <a:latin typeface="Calibri"/>
              </a:defRPr>
            </a:pPr>
            <a:r>
              <a:t>KI-Optimierung + DE-Compliance + Multi-Tenant + E2E Workflow</a:t>
            </a:r>
            <a:br/>
            <a:r>
              <a:t>(Simulation → Angebot → Signatur → CRM)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172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Quellen: Wood Mackenzie (2025) | Mordor Intelligence C&amp;I Storage Report | BSW Solar | ESS-News.com | SaaS Capital Valuation Report 2025 | pv magazine DE | Grand View Research | Precedence Research | BNetzA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Strategischer Wert &amp; Nachster Schritt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0DF"/>
                </a:solidFill>
                <a:latin typeface="Calibri"/>
              </a:defRPr>
            </a:pPr>
            <a:r>
              <a:t>Warum diese Anwendung ein strategisches Asset fur EWS GmbH 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274320"/>
            <a:ext cx="1920240" cy="640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01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✨ Built 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548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Claude Code &amp; Opus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474720" cy="635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  <a:latin typeface="Calibri"/>
              </a:defRPr>
            </a:pPr>
            <a:r>
              <a:t>💰 Umsatzpotenzial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SaaS-Lizenzmodell pro Installateur/Monat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Skalierbar uber Multi-Tenant-Architektur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C&amp;I Speichermarkt DE: +34% Wachstum YoY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SaaS-Bewertung: 4-7x jahrlicher Umsatz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Zusatzerlorse uber PDF-Angebote &amp; CRM-Leads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474720" cy="635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8A745"/>
                </a:solidFill>
                <a:latin typeface="Calibri"/>
              </a:defRPr>
            </a:pPr>
            <a:r>
              <a:t>🎯 Wettbewerbsvorteil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74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Einzige DE-Losung: KI + Compliance + E2E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Kein Wettbewerber deckt gesamten Workflow ab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Regulatorische Komplexitat als Markteintrittsbarriere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KI-Differenzierung: Intelligente Angebotsoptimierung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White-Label ermoglicht Partnernetzwerk-Skalierung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474720" cy="63500"/>
          </a:xfrm>
          <a:prstGeom prst="rect">
            <a:avLst/>
          </a:prstGeom>
          <a:solidFill>
            <a:srgbClr val="F09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508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319"/>
                </a:solidFill>
                <a:latin typeface="Calibri"/>
              </a:defRPr>
            </a:pPr>
            <a:r>
              <a:t>⚡ KI-gestutzte Entwicklung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74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Entwickelt mit Claude Code (Anthropic AI)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Dramatisch beschleunigte Entwicklungszeit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Produktionsreife Qualitat (4 Phasen abgeschlossen)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Mathematisch validierte Berechnungsmodelle</a:t>
            </a:r>
          </a:p>
          <a:p>
            <a:pPr>
              <a:spcAft>
                <a:spcPts val="300"/>
              </a:spcAft>
              <a:defRPr sz="1050">
                <a:solidFill>
                  <a:srgbClr val="212529"/>
                </a:solidFill>
                <a:latin typeface="Calibri"/>
              </a:defRPr>
            </a:pPr>
            <a:r>
              <a:t>▸ Modernes Tech-Stack (Next.js 15, FastAPI, PostgreSQL)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11064240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6907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  <a:latin typeface="Calibri"/>
              </a:defRPr>
            </a:pPr>
            <a:r>
              <a:t>Kernaussage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Der Gewerbespeicher Planner ist eine produktionsreife, KI-gestutzte B2B-SaaS-Plattform, die in einem $19-Mrd.-Markt (DE) mit +34% Wachstum positioniert ist. Die Kombination aus KI-Optimierung, regulatorischer Compliance und End-to-End-Workflow ist im deutschen Markt einzigartig und schafft einen nachhaltigen Wettbewerbsvorteil.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Empfohlene nachste Schritte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3383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571500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715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Pilotphase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70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5-10 Installateure als Beta-Nutzer gewinnen, Feedback sammeln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5623560"/>
            <a:ext cx="3383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9119" y="571500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19" y="5715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19" y="5669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19" y="5870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Preismodell definieren, Vertriebskanal uber EWS-Netzwerk aufbauen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18" y="5623560"/>
            <a:ext cx="3383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38158" y="5715000"/>
            <a:ext cx="365760" cy="36576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58" y="5715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8" y="5669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Calibri"/>
              </a:defRPr>
            </a:pPr>
            <a:r>
              <a:t>Skalierung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58" y="5870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Calibri"/>
              </a:defRPr>
            </a:pPr>
            <a:r>
              <a:t>Multi-Tenant-Plattform fur Partnernetzwerk ausrollen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Calibri"/>
              </a:defRPr>
            </a:pPr>
            <a:r>
              <a:t>Gewerbespeicher Planner | EWS GmbH | Vertraulich | Februar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